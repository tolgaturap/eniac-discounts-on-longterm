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Slab"/>
      <p:regular r:id="rId17"/>
      <p:bold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font" Target="fonts/RobotoSlab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500c6a768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500c6a768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4894d0e3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4894d0e3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4858a42f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4858a42f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4858a42f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4858a42f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4858a42f9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4858a42f9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500c6a768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500c6a768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4858a42f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4858a42f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4858a42f9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4858a42f9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4858a42f9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4858a42f9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500c6a76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500c6a76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500c6a768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500c6a768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rgbClr val="20344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tock.adobe.com/de/images/empfehlung-stempel-button-daumen-hoch-oben-grunch/368807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87900" y="4365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Hinweise zu den Daten</a:t>
            </a:r>
            <a:endParaRPr b="1"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87900" y="12964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Daten wurden bereinigt und über 70% der Daten wurden gelöscht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Datentypen wurden korrekt konvertiert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Keine Aussage über Gewinn möglich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418500" y="75325"/>
            <a:ext cx="830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Rabattierte Produkte werden häufiger gekauft</a:t>
            </a:r>
            <a:endParaRPr i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230300" y="1947650"/>
            <a:ext cx="293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980500" y="1261800"/>
            <a:ext cx="3163500" cy="28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chemeClr val="dk1"/>
                </a:solidFill>
              </a:rPr>
              <a:t>Erkenntnisse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Rabattierte Produkte werden häufiger gekauft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Die meisten Verkäufe liegen unter der Referenzpreis-Linie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Rabatte steigern die Nachfrage, garantieren aber keinen höheren Umsatz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6" name="Google Shape;76;p15" title="Bildschirmfoto 2026-07-10 um 15.35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25" y="846413"/>
            <a:ext cx="5906876" cy="370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8" y="587750"/>
            <a:ext cx="6868375" cy="33877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967200" y="64550"/>
            <a:ext cx="720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2200">
                <a:solidFill>
                  <a:schemeClr val="dk1"/>
                </a:solidFill>
              </a:rPr>
              <a:t>Die meisten Rabatte liegen zwischen 10 % und 25 %</a:t>
            </a:r>
            <a:endParaRPr sz="2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72450" y="3975525"/>
            <a:ext cx="61980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1"/>
                </a:solidFill>
              </a:rPr>
              <a:t>Erkenntnisse</a:t>
            </a:r>
            <a:endParaRPr b="1" sz="13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200">
                <a:solidFill>
                  <a:schemeClr val="dk1"/>
                </a:solidFill>
              </a:rPr>
              <a:t>Der durchschnittliche Rabatt beträgt </a:t>
            </a:r>
            <a:r>
              <a:rPr b="1" lang="de" sz="1200">
                <a:solidFill>
                  <a:schemeClr val="dk1"/>
                </a:solidFill>
              </a:rPr>
              <a:t>22,8 %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200">
                <a:solidFill>
                  <a:schemeClr val="dk1"/>
                </a:solidFill>
              </a:rPr>
              <a:t>Die meisten Rabatte liegen zwischen </a:t>
            </a:r>
            <a:r>
              <a:rPr b="1" lang="de" sz="1200">
                <a:solidFill>
                  <a:schemeClr val="dk1"/>
                </a:solidFill>
              </a:rPr>
              <a:t>10 % und 25 %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200">
                <a:solidFill>
                  <a:schemeClr val="dk1"/>
                </a:solidFill>
              </a:rPr>
              <a:t>Sehr hohe Rabatte treten deutlich seltener auf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 title="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638" y="665838"/>
            <a:ext cx="7312624" cy="3085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1499850" y="118350"/>
            <a:ext cx="6144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900">
                <a:solidFill>
                  <a:schemeClr val="dk1"/>
                </a:solidFill>
              </a:rPr>
              <a:t>Black Friday sorgt für den höchsten Monatsumsatz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872650" y="3822000"/>
            <a:ext cx="61980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chemeClr val="dk1"/>
                </a:solidFill>
              </a:rPr>
              <a:t>Erkenntnisse</a:t>
            </a:r>
            <a:endParaRPr b="1" sz="15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">
                <a:solidFill>
                  <a:schemeClr val="dk1"/>
                </a:solidFill>
              </a:rPr>
              <a:t>Der höchste Umsatz wurde im November erzielt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">
                <a:solidFill>
                  <a:schemeClr val="dk1"/>
                </a:solidFill>
              </a:rPr>
              <a:t>Black Friday hatte einen besonders starken Einfluss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">
                <a:solidFill>
                  <a:schemeClr val="dk1"/>
                </a:solidFill>
              </a:rPr>
              <a:t>Auch das Weihnachtsgeschäft führte zu hohen Umsätzen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75" y="238550"/>
            <a:ext cx="8708775" cy="453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00" y="610963"/>
            <a:ext cx="7681201" cy="324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1473000" y="118375"/>
            <a:ext cx="619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2000">
                <a:solidFill>
                  <a:schemeClr val="dk1"/>
                </a:solidFill>
              </a:rPr>
              <a:t>Der Gesamtumsatz erreicht 7,01 Mio. €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731400" y="3859200"/>
            <a:ext cx="6198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Erkenntnisse</a:t>
            </a:r>
            <a:endParaRPr b="1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Der kumulierte Umsatz stieg auf </a:t>
            </a:r>
            <a:r>
              <a:rPr b="1" lang="de" sz="1300">
                <a:solidFill>
                  <a:schemeClr val="dk1"/>
                </a:solidFill>
              </a:rPr>
              <a:t>7,01 Mio. €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Der stärkste Anstieg ist im letzten Quartal 2017 zu sehen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Saisonale Verkaufsphasen beschleunigten das Umsatzwachstum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100" y="572850"/>
            <a:ext cx="6889800" cy="297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1473000" y="75325"/>
            <a:ext cx="619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700">
                <a:solidFill>
                  <a:schemeClr val="dk1"/>
                </a:solidFill>
              </a:rPr>
              <a:t>Saisonale Spitzen steigern den Umsatz deutlich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1127100" y="3687375"/>
            <a:ext cx="61980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chemeClr val="dk1"/>
                </a:solidFill>
              </a:rPr>
              <a:t>Erkenntnisse</a:t>
            </a:r>
            <a:endParaRPr b="1" sz="15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">
                <a:solidFill>
                  <a:schemeClr val="dk1"/>
                </a:solidFill>
              </a:rPr>
              <a:t>Das tägliche Grundgeschäft bleibt über den Zeitraum relativ stabil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">
                <a:solidFill>
                  <a:schemeClr val="dk1"/>
                </a:solidFill>
              </a:rPr>
              <a:t>Black Friday führte zum stärksten Umsatzanstieg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">
                <a:solidFill>
                  <a:schemeClr val="dk1"/>
                </a:solidFill>
              </a:rPr>
              <a:t>Saisonale Aktionen sorgten für deutliche zusätzliche Umsätze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/>
        </p:nvSpPr>
        <p:spPr>
          <a:xfrm>
            <a:off x="187050" y="358025"/>
            <a:ext cx="86637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3600">
                <a:solidFill>
                  <a:schemeClr val="dk1"/>
                </a:solidFill>
              </a:rPr>
              <a:t>Unsere Empfehlung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Stock-Illustration „empfehlung stempel button daumen hoch oben grunch“ |  Adobe Stock"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3100" y="1333025"/>
            <a:ext cx="2857650" cy="28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359100" y="1256825"/>
            <a:ext cx="5312400" cy="3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de" sz="2300">
                <a:solidFill>
                  <a:schemeClr val="dk1"/>
                </a:solidFill>
              </a:rPr>
              <a:t>Rabatte gezielt statt dauerhaft einsetzen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de" sz="2300">
                <a:solidFill>
                  <a:schemeClr val="dk1"/>
                </a:solidFill>
              </a:rPr>
              <a:t>Black Friday und Weihnachten gezielt nutzen.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de" sz="2300">
                <a:solidFill>
                  <a:schemeClr val="dk1"/>
                </a:solidFill>
              </a:rPr>
              <a:t>Moderate Rabatte sind langfristig sinnvoll.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7234700" y="4190675"/>
            <a:ext cx="908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Abb. 1</a:t>
            </a:r>
            <a:endParaRPr sz="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/>
        </p:nvSpPr>
        <p:spPr>
          <a:xfrm>
            <a:off x="1102500" y="190250"/>
            <a:ext cx="69390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Für Fragen: Produktkategorien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22" title="Bildschirmfoto 2026-07-13 um 12.12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688" y="934000"/>
            <a:ext cx="7108626" cy="39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/>
        </p:nvSpPr>
        <p:spPr>
          <a:xfrm>
            <a:off x="1151225" y="422475"/>
            <a:ext cx="6632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Quellenverzeichnis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517525" y="1087850"/>
            <a:ext cx="8174700" cy="3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Textquellen: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de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Lms Lernmatrial von der WBS Coding School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de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Datenbanken zur Verfügung gestellt durch die WBS Coding School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Bildquellen: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d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Plots selber erstellt durch Anwendung von Python und Seaborn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d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Abb. 1 </a:t>
            </a:r>
            <a:r>
              <a:rPr lang="de" sz="10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https://stock.adobe.com/de/images/empfehlung-stempel-button-daumen-hoch-oben-grunch/36880700</a:t>
            </a:r>
            <a:r>
              <a:rPr lang="de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(letzter Zugriff: 13.07.2026 um 12:22 Uhr)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